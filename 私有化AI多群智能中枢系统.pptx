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</a:rPr>
              <a:t>私有化AI多群智能中枢系统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00B4D8"/>
                </a:solidFill>
              </a:rPr>
              <a:t>让AI拥有可迁移、可持久、可成长的身体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621792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CCCCC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731520"/>
            <a:ext cx="54864" cy="53035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我们要解决什么问题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B4D8"/>
                </a:solidFill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178308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当前AI无法独立存在、不能迁移、不能抱有身体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3464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B4D8"/>
                </a:solidFill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97180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多群交互混乱、上下文丢失、无法长期记忆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2336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B4D8"/>
                </a:solidFill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416052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系统不可复活、代码易丢、无法持久运行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21208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B4D8"/>
                </a:solidFill>
              </a:rP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534924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一人开发难以落地、难以维护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我们的解决方案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CCCCCC"/>
                </a:solidFill>
              </a:rPr>
              <a:t>构建一套私有化、可持久、可迁移、可独立运行的AI中枢系统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011680"/>
            <a:ext cx="2560320" cy="2286000"/>
          </a:xfrm>
          <a:prstGeom prst="rect">
            <a:avLst/>
          </a:prstGeom>
          <a:solidFill>
            <a:srgbClr val="152545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14884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B4D8"/>
                </a:solidFill>
              </a:rPr>
              <a:t>IM 通道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8892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Telegram
Discord
WhatsApp
Signal</a:t>
            </a:r>
          </a:p>
        </p:txBody>
      </p:sp>
      <p:sp>
        <p:nvSpPr>
          <p:cNvPr id="7" name="Rectangle 6"/>
          <p:cNvSpPr/>
          <p:nvPr/>
        </p:nvSpPr>
        <p:spPr>
          <a:xfrm>
            <a:off x="3063240" y="3017520"/>
            <a:ext cx="548640" cy="3657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0" y="2011680"/>
            <a:ext cx="2560320" cy="2286000"/>
          </a:xfrm>
          <a:prstGeom prst="rect">
            <a:avLst/>
          </a:prstGeom>
          <a:solidFill>
            <a:srgbClr val="152545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0" y="214884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B4D8"/>
                </a:solidFill>
              </a:rPr>
              <a:t>gstack 大脑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278892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状态记忆
角色选择
流程控制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06440" y="3017520"/>
            <a:ext cx="548640" cy="3657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43600" y="2011680"/>
            <a:ext cx="2560320" cy="2286000"/>
          </a:xfrm>
          <a:prstGeom prst="rect">
            <a:avLst/>
          </a:prstGeom>
          <a:solidFill>
            <a:srgbClr val="152545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214884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B4D8"/>
                </a:solidFill>
              </a:rPr>
              <a:t>OpenClaw 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278892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多渠道输出
工具执行
Agent调度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549640" y="3017520"/>
            <a:ext cx="548640" cy="3657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686800" y="2011680"/>
            <a:ext cx="2560320" cy="2286000"/>
          </a:xfrm>
          <a:prstGeom prst="rect">
            <a:avLst/>
          </a:prstGeom>
          <a:solidFill>
            <a:srgbClr val="152545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78240" y="214884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B4D8"/>
                </a:solidFill>
              </a:rPr>
              <a:t>可插探智能体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0" y="278892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coding
ops
testing
docs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029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D700"/>
                </a:solidFill>
              </a:rPr>
              <a:t>其他全部可插探、可替换、可迭代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大脑的核心原则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00B4D8"/>
                </a:solidFill>
              </a:rPr>
              <a:t>最核心 · 只做三件事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1828800"/>
            <a:ext cx="731520" cy="73152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A0E1A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874519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① 记状态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4688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CCCCC"/>
                </a:solidFill>
              </a:rPr>
              <a:t>大脑持久化记忆所有会话状态
重启不丢、断电可续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3291840"/>
            <a:ext cx="731520" cy="73152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38328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A0E1A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333756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② 选角色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39319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CCCCC"/>
                </a:solidFill>
              </a:rPr>
              <a:t>根据任务类型自动调度
最合适的专业Agent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4754880"/>
            <a:ext cx="731520" cy="73152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84632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A0E1A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48006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③ 控流程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53949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CCCCC"/>
                </a:solidFill>
              </a:rPr>
              <a:t>编排任务流程、控制执行节奏
可打断、可恢复、可回滚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5943600"/>
            <a:ext cx="12191695" cy="457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6035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D700"/>
                </a:solidFill>
              </a:rPr>
              <a:t>其他全部可插探、可替换、可迭代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一人公司也能做出来、能跑起来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73152" cy="914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B4D8"/>
                </a:solidFill>
              </a:rPr>
              <a:t>最小链路优先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74519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先跑通 IM → 大脑 → 手 的最小链路
不做冗余、不堆功能、不过度设计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651760"/>
            <a:ext cx="73152" cy="914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6517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B4D8"/>
                </a:solidFill>
              </a:rPr>
              <a:t>模块化架构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546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每个模块独立、可替换、可单独调试
一人也能维护整套系统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931920"/>
            <a:ext cx="73152" cy="914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9319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B4D8"/>
                </a:solidFill>
              </a:rPr>
              <a:t>可重启可恢复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4348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状态持久化、进程可重启
代码丢失也能从文档复活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5212079"/>
            <a:ext cx="73152" cy="914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5212079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B4D8"/>
                </a:solidFill>
              </a:rPr>
              <a:t>文档即基因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714999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12份刚需文档是系统的基因
只要文档还在，系统就能重生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系统核心能力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3566160" cy="2286000"/>
          </a:xfrm>
          <a:prstGeom prst="rect">
            <a:avLst/>
          </a:prstGeom>
          <a:solidFill>
            <a:srgbClr val="152545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多群障离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148840"/>
            <a:ext cx="1463040" cy="3657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1488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A0E1A"/>
                </a:solidFill>
              </a:rPr>
              <a:t>互不干扰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5176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CCCC"/>
                </a:solidFill>
              </a:rPr>
              <a:t>每个群独立记忆、独立Agent
上下文互不污染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371600"/>
            <a:ext cx="3566160" cy="2286000"/>
          </a:xfrm>
          <a:prstGeom prst="rect">
            <a:avLst/>
          </a:prstGeom>
          <a:solidFill>
            <a:srgbClr val="152545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5544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状态持久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60" y="2148840"/>
            <a:ext cx="1463040" cy="3657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21488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A0E1A"/>
                </a:solidFill>
              </a:rPr>
              <a:t>重启不丢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65176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CCCC"/>
                </a:solidFill>
              </a:rPr>
              <a:t>所有状态写入持久化存储
断电可续跑、重启不丢数据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1371600"/>
            <a:ext cx="3566160" cy="2286000"/>
          </a:xfrm>
          <a:prstGeom prst="rect">
            <a:avLst/>
          </a:prstGeom>
          <a:solidFill>
            <a:srgbClr val="152545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5544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智能体可插探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21040" y="2148840"/>
            <a:ext cx="1463040" cy="3657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21488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A0E1A"/>
                </a:solidFill>
              </a:rPr>
              <a:t>随时扩展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65176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CCCC"/>
                </a:solidFill>
              </a:rPr>
              <a:t>Agent以Skill形式加载
无需修改核心代码即可扩展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931920"/>
            <a:ext cx="3566160" cy="2286000"/>
          </a:xfrm>
          <a:prstGeom prst="rect">
            <a:avLst/>
          </a:prstGeom>
          <a:solidFill>
            <a:srgbClr val="152545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1148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流程可控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4709159"/>
            <a:ext cx="1463040" cy="3657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709159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A0E1A"/>
                </a:solidFill>
              </a:rPr>
              <a:t>可打断可恢复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212079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CCCC"/>
                </a:solidFill>
              </a:rPr>
              <a:t>任务流程可中断、可回滚
支持断点续传式的执行恢复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97680" y="3931920"/>
            <a:ext cx="3566160" cy="2286000"/>
          </a:xfrm>
          <a:prstGeom prst="rect">
            <a:avLst/>
          </a:prstGeom>
          <a:solidFill>
            <a:srgbClr val="152545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80560" y="41148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私有化部署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80560" y="4709159"/>
            <a:ext cx="1463040" cy="3657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80560" y="4709159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A0E1A"/>
                </a:solidFill>
              </a:rPr>
              <a:t>数据完全可控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5212079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CCCC"/>
                </a:solidFill>
              </a:rPr>
              <a:t>所有数据存储在自有服务器
不依赖任何云服务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项目最核心资产：12份刚需文档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1280160"/>
            <a:ext cx="502920" cy="50292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2588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0E1A"/>
                </a:solidFill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353312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项目立项建议书</a:t>
            </a:r>
          </a:p>
        </p:txBody>
      </p:sp>
      <p:sp>
        <p:nvSpPr>
          <p:cNvPr id="6" name="Oval 5"/>
          <p:cNvSpPr/>
          <p:nvPr/>
        </p:nvSpPr>
        <p:spPr>
          <a:xfrm>
            <a:off x="3337560" y="1280160"/>
            <a:ext cx="502920" cy="50292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37560" y="132588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0E1A"/>
                </a:solidFill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1353312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可行性分析报告</a:t>
            </a:r>
          </a:p>
        </p:txBody>
      </p:sp>
      <p:sp>
        <p:nvSpPr>
          <p:cNvPr id="9" name="Oval 8"/>
          <p:cNvSpPr/>
          <p:nvPr/>
        </p:nvSpPr>
        <p:spPr>
          <a:xfrm>
            <a:off x="6217920" y="1280160"/>
            <a:ext cx="502920" cy="50292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132588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0E1A"/>
                </a:solidFill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12280" y="1353312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产品PRD</a:t>
            </a:r>
          </a:p>
        </p:txBody>
      </p:sp>
      <p:sp>
        <p:nvSpPr>
          <p:cNvPr id="12" name="Oval 11"/>
          <p:cNvSpPr/>
          <p:nvPr/>
        </p:nvSpPr>
        <p:spPr>
          <a:xfrm>
            <a:off x="9098280" y="1280160"/>
            <a:ext cx="502920" cy="50292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98280" y="132588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0E1A"/>
                </a:solidFill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92640" y="1353312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系统架构设计</a:t>
            </a:r>
          </a:p>
        </p:txBody>
      </p:sp>
      <p:sp>
        <p:nvSpPr>
          <p:cNvPr id="15" name="Oval 14"/>
          <p:cNvSpPr/>
          <p:nvPr/>
        </p:nvSpPr>
        <p:spPr>
          <a:xfrm>
            <a:off x="457200" y="2743200"/>
            <a:ext cx="502920" cy="50292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78892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0E1A"/>
                </a:solidFill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2816352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模块详细设计</a:t>
            </a:r>
          </a:p>
        </p:txBody>
      </p:sp>
      <p:sp>
        <p:nvSpPr>
          <p:cNvPr id="18" name="Oval 17"/>
          <p:cNvSpPr/>
          <p:nvPr/>
        </p:nvSpPr>
        <p:spPr>
          <a:xfrm>
            <a:off x="3337560" y="2743200"/>
            <a:ext cx="502920" cy="50292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37560" y="278892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0E1A"/>
                </a:solidFill>
              </a:rP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31920" y="2816352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API接口文档</a:t>
            </a:r>
          </a:p>
        </p:txBody>
      </p:sp>
      <p:sp>
        <p:nvSpPr>
          <p:cNvPr id="21" name="Oval 20"/>
          <p:cNvSpPr/>
          <p:nvPr/>
        </p:nvSpPr>
        <p:spPr>
          <a:xfrm>
            <a:off x="6217920" y="2743200"/>
            <a:ext cx="502920" cy="50292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0" y="278892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0E1A"/>
                </a:solidFill>
              </a:rPr>
              <a:t>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12280" y="2816352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测试用例</a:t>
            </a:r>
          </a:p>
        </p:txBody>
      </p:sp>
      <p:sp>
        <p:nvSpPr>
          <p:cNvPr id="24" name="Oval 23"/>
          <p:cNvSpPr/>
          <p:nvPr/>
        </p:nvSpPr>
        <p:spPr>
          <a:xfrm>
            <a:off x="9098280" y="2743200"/>
            <a:ext cx="502920" cy="50292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98280" y="278892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0E1A"/>
                </a:solidFill>
              </a:rPr>
              <a:t>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92640" y="2816352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测试报告</a:t>
            </a:r>
          </a:p>
        </p:txBody>
      </p:sp>
      <p:sp>
        <p:nvSpPr>
          <p:cNvPr id="27" name="Oval 26"/>
          <p:cNvSpPr/>
          <p:nvPr/>
        </p:nvSpPr>
        <p:spPr>
          <a:xfrm>
            <a:off x="457200" y="4206240"/>
            <a:ext cx="502920" cy="50292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4251959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0E1A"/>
                </a:solidFill>
              </a:rPr>
              <a:t>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" y="4279392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部署手册</a:t>
            </a:r>
          </a:p>
        </p:txBody>
      </p:sp>
      <p:sp>
        <p:nvSpPr>
          <p:cNvPr id="30" name="Oval 29"/>
          <p:cNvSpPr/>
          <p:nvPr/>
        </p:nvSpPr>
        <p:spPr>
          <a:xfrm>
            <a:off x="3337560" y="4206240"/>
            <a:ext cx="502920" cy="50292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337560" y="4251959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0E1A"/>
                </a:solidFill>
              </a:rPr>
              <a:t>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31920" y="4279392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上线与回滚方案</a:t>
            </a:r>
          </a:p>
        </p:txBody>
      </p:sp>
      <p:sp>
        <p:nvSpPr>
          <p:cNvPr id="33" name="Oval 32"/>
          <p:cNvSpPr/>
          <p:nvPr/>
        </p:nvSpPr>
        <p:spPr>
          <a:xfrm>
            <a:off x="6217920" y="4206240"/>
            <a:ext cx="502920" cy="50292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17920" y="4251959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0E1A"/>
                </a:solidFill>
              </a:rPr>
              <a:t>11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12280" y="4279392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运维手册</a:t>
            </a:r>
          </a:p>
        </p:txBody>
      </p:sp>
      <p:sp>
        <p:nvSpPr>
          <p:cNvPr id="36" name="Oval 35"/>
          <p:cNvSpPr/>
          <p:nvPr/>
        </p:nvSpPr>
        <p:spPr>
          <a:xfrm>
            <a:off x="9098280" y="4206240"/>
            <a:ext cx="502920" cy="50292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98280" y="4251959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0E1A"/>
                </a:solidFill>
              </a:rPr>
              <a:t>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92640" y="4279392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故障处理SOP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5577840"/>
            <a:ext cx="1124712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57150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D700"/>
                </a:solidFill>
              </a:rPr>
              <a:t>这是系统可落地、可复活、可迁移的基因 —— 只要文档还在，系统就能重生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我们的真正声垠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B4D8"/>
                </a:solidFill>
              </a:rPr>
              <a:t>提示词模板开源迭代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D700"/>
                </a:solidFill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828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所有规范固化为AI提示词模板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377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CCCC"/>
                </a:solidFill>
              </a:rPr>
              <a:t>设计规范、开发规范、运维规范
全部转化为可执行的提示词文档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01752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D700"/>
                </a:solidFill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017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开源到GitHub，持续迭代进化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566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CCCC"/>
                </a:solidFill>
              </a:rPr>
              <a:t>模板库持续更新、不断优化
开源社区共同建设护城河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20624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D700"/>
                </a:solidFill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2062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只要模板还在，系统就能重生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4754879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CCCC"/>
                </a:solidFill>
              </a:rPr>
              <a:t>代码可丢、服务器可毁
模板是AI可迁移的核心基因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39496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D700"/>
                </a:solidFill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5394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这是AI可迁移的核心载体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5943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CCCC"/>
                </a:solidFill>
              </a:rPr>
              <a:t>模板即系统的大脑
载体可换、灵魂永存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实施路线图（路标磁）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2103120" cy="548640"/>
          </a:xfrm>
          <a:prstGeom prst="rect">
            <a:avLst/>
          </a:prstGeom>
          <a:solidFill>
            <a:srgbClr val="00C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M1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B4D8"/>
                </a:solidFill>
              </a:rPr>
              <a:t>已完成</a:t>
            </a:r>
          </a:p>
        </p:txBody>
      </p:sp>
      <p:sp>
        <p:nvSpPr>
          <p:cNvPr id="6" name="Rectangle 5"/>
          <p:cNvSpPr/>
          <p:nvPr/>
        </p:nvSpPr>
        <p:spPr>
          <a:xfrm>
            <a:off x="2606040" y="1600200"/>
            <a:ext cx="182880" cy="3657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514600"/>
            <a:ext cx="2103120" cy="2743200"/>
          </a:xfrm>
          <a:prstGeom prst="rect">
            <a:avLst/>
          </a:prstGeom>
          <a:solidFill>
            <a:srgbClr val="152545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651760"/>
            <a:ext cx="1920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完成12份文档 + 路演PPT提示词
系统顶层设计文档全部就绪</a:t>
            </a:r>
          </a:p>
        </p:txBody>
      </p:sp>
      <p:sp>
        <p:nvSpPr>
          <p:cNvPr id="9" name="Rectangle 8"/>
          <p:cNvSpPr/>
          <p:nvPr/>
        </p:nvSpPr>
        <p:spPr>
          <a:xfrm>
            <a:off x="2788920" y="1371600"/>
            <a:ext cx="2103120" cy="5486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88920" y="14173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M2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88920" y="20116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B4D8"/>
                </a:solidFill>
              </a:rPr>
              <a:t>进行中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37760" y="1600200"/>
            <a:ext cx="182880" cy="3657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88920" y="2514600"/>
            <a:ext cx="2103120" cy="2743200"/>
          </a:xfrm>
          <a:prstGeom prst="rect">
            <a:avLst/>
          </a:prstGeom>
          <a:solidFill>
            <a:srgbClr val="152545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80360" y="2651760"/>
            <a:ext cx="1920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跑通 IM → gstack → OpenClaw 最小链路
验证核心架构可行性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20640" y="1371600"/>
            <a:ext cx="2103120" cy="54864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20640" y="14173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M3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20116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B4D8"/>
                </a:solidFill>
              </a:rPr>
              <a:t>待启动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69479" y="1600200"/>
            <a:ext cx="182880" cy="3657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20640" y="2514600"/>
            <a:ext cx="2103120" cy="2743200"/>
          </a:xfrm>
          <a:prstGeom prst="rect">
            <a:avLst/>
          </a:prstGeom>
          <a:solidFill>
            <a:srgbClr val="152545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12079" y="2651760"/>
            <a:ext cx="1920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开源GitHub仓库
建立开源社区和模板迭代机制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52359" y="1371600"/>
            <a:ext cx="2103120" cy="548640"/>
          </a:xfrm>
          <a:prstGeom prst="rect">
            <a:avLst/>
          </a:prstGeom>
          <a:solidFill>
            <a:srgbClr val="66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52359" y="14173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M4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52359" y="20116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B4D8"/>
                </a:solidFill>
              </a:rPr>
              <a:t>规划中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601199" y="1600200"/>
            <a:ext cx="182880" cy="3657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452359" y="2514600"/>
            <a:ext cx="2103120" cy="2743200"/>
          </a:xfrm>
          <a:prstGeom prst="rect">
            <a:avLst/>
          </a:prstGeom>
          <a:solidFill>
            <a:srgbClr val="152545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43799" y="2651760"/>
            <a:ext cx="1920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稳定运行、持续迭代智能体
扩展更多IM通道和Agent能力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784080" y="1371600"/>
            <a:ext cx="2103120" cy="5486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84080" y="14173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M5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84080" y="20116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B4D8"/>
                </a:solidFill>
              </a:rPr>
              <a:t>愿景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784080" y="2514600"/>
            <a:ext cx="2103120" cy="2743200"/>
          </a:xfrm>
          <a:prstGeom prst="rect">
            <a:avLst/>
          </a:prstGeom>
          <a:solidFill>
            <a:srgbClr val="152545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875519" y="2651760"/>
            <a:ext cx="1920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实现AI可迁移、可扬负身体
让AI真正拥有独立存在的能力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5577840"/>
            <a:ext cx="1124712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56692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CCCCC"/>
                </a:solidFill>
              </a:rPr>
              <a:t>Phase 0 → Phase 1 → Phase 2 → Phase 3 → Phase 4 → Phase 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</a:rPr>
              <a:t>让AI真正拥有身体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46888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D700"/>
                </a:solidFill>
              </a:rPr>
              <a:t>可迁移 · 可永生 · 可执輝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3291840"/>
            <a:ext cx="301752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5661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CCCCCC"/>
                </a:solidFill>
              </a:rPr>
              <a:t>私有化AI多群智能中枢系统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20624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00B4D8"/>
                </a:solidFill>
              </a:rPr>
              <a:t>梦想从此开始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2179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CCCCC"/>
                </a:solidFill>
              </a:rPr>
              <a:t>2026 · 私有化AI多群智能中枢系统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